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第二讲 线性方程组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高斯消元法的基本步骤</a:t>
            </a:r>
          </a:p>
          <a:p>
            <a:pPr lvl="1"/>
            <a:r>
              <a:t>化为行阶梯形</a:t>
            </a:r>
          </a:p>
          <a:p>
            <a:pPr lvl="1"/>
            <a:r>
              <a:t>回代求解</a:t>
            </a:r>
          </a:p>
          <a:p>
            <a:pPr/>
            <a:r>
              <a:t>解的存在性与唯一性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914400"/>
            <a:ext cx="7955280" cy="1097280"/>
            <a:chOff x="457200" y="914400"/>
            <a:chExt cx="7955280" cy="1097280"/>
          </a:xfrm>
        </p:grpSpPr>
        <p:sp>
          <p:nvSpPr>
            <p:cNvPr id="3" name="Isosceles Triangle 2"/>
            <p:cNvSpPr/>
            <p:nvPr/>
          </p:nvSpPr>
          <p:spPr>
            <a:xfrm>
              <a:off x="457200" y="914400"/>
              <a:ext cx="1097280" cy="1097280"/>
            </a:xfrm>
            <a:prstGeom prst="triangle">
              <a:avLst/>
            </a:prstGeom>
            <a:solidFill>
              <a:srgbClr val="C83C3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1828800" y="914400"/>
              <a:ext cx="1097280" cy="1097280"/>
            </a:xfrm>
            <a:prstGeom prst="diamond">
              <a:avLst/>
            </a:prstGeom>
            <a:solidFill>
              <a:srgbClr val="3CA03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ight Arrow 4"/>
            <p:cNvSpPr/>
            <p:nvPr/>
          </p:nvSpPr>
          <p:spPr>
            <a:xfrm>
              <a:off x="3200400" y="914400"/>
              <a:ext cx="1097280" cy="1097280"/>
            </a:xfrm>
            <a:prstGeom prst="rightArrow">
              <a:avLst/>
            </a:prstGeom>
            <a:solidFill>
              <a:srgbClr val="3C3CC8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5-Point Star 5"/>
            <p:cNvSpPr/>
            <p:nvPr/>
          </p:nvSpPr>
          <p:spPr>
            <a:xfrm>
              <a:off x="4572000" y="914400"/>
              <a:ext cx="1097280" cy="1097280"/>
            </a:xfrm>
            <a:prstGeom prst="star5">
              <a:avLst/>
            </a:prstGeom>
            <a:solidFill>
              <a:srgbClr val="C896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5943600" y="914400"/>
              <a:ext cx="1097280" cy="1097280"/>
            </a:xfrm>
            <a:prstGeom prst="hexagon">
              <a:avLst/>
            </a:prstGeom>
            <a:solidFill>
              <a:srgbClr val="7800A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Chevron 7"/>
            <p:cNvSpPr/>
            <p:nvPr/>
          </p:nvSpPr>
          <p:spPr>
            <a:xfrm>
              <a:off x="7315200" y="914400"/>
              <a:ext cx="1097280" cy="1097280"/>
            </a:xfrm>
            <a:prstGeom prst="chevron">
              <a:avLst/>
            </a:prstGeom>
            <a:solidFill>
              <a:srgbClr val="008C8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914400" y="3200400"/>
            <a:ext cx="2743200" cy="1371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0">
            <a:off x="4572000" y="3200400"/>
            <a:ext cx="18288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5029200"/>
            <a:ext cx="3657600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t>A long text box paragraph that wraps across several lines inside a narrow box on the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